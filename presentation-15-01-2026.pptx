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94613"/>
  </p:normalViewPr>
  <p:slideViewPr>
    <p:cSldViewPr snapToGrid="0">
      <p:cViewPr varScale="1">
        <p:scale>
          <a:sx n="88" d="100"/>
          <a:sy n="88" d="100"/>
        </p:scale>
        <p:origin x="17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377F9-C929-B648-9576-55FEB6CE2988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DA20D-6F4A-6643-BF3F-F807088B0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27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52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462E2-1FA2-1246-30D7-2D4FF90E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30370-0223-97A7-3C50-2FE70D0D0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CAC94-9D9F-7487-D239-9CA7FE95E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C688E-30D6-CCBF-E92C-07BF113F5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7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DA289-40CD-A808-2058-E8B1B82B5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7DBA6-AFA7-3C44-6159-044F89BC1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267CA-96F3-5642-BE5A-BB353BDCF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16326-2777-A499-0162-B8BE23357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DA20D-6F4A-6643-BF3F-F807088B0E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83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F1C9-E147-EF22-A5E1-DD3BBEC56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D8CFB-843C-26DE-4B6D-975857CC1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7CB42-C5CF-11DB-9970-83B3D13B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1FCD0-41F8-3C43-8AC6-625A995C0C1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126DD-7CE7-C350-68B3-F91720DF4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8EDB6-2776-A14F-B557-EB94833D0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BAE1-5D21-E44F-AFA2-DD0178E5E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70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D1F6-7F98-F8F8-EBB6-6029B2123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ECE3A-FEEE-0948-A9B9-5933A4BFA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A5137-3952-CA64-6E97-F1D337DC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1FCD0-41F8-3C43-8AC6-625A995C0C1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8C5DC-F6C0-AB5C-4139-8F4BFB5D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B6B98-EB39-EB85-2AFC-9D872C31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BAE1-5D21-E44F-AFA2-DD0178E5E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99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9919-9F80-4C63-0C80-CC1440073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6C707-16BF-3D35-C48E-AF94CB53B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77F02-6B4C-1867-89F2-7D174BE6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1FCD0-41F8-3C43-8AC6-625A995C0C1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B2E4F-A612-A2FF-242E-216F4E99F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0B760-04E5-7F34-50F5-A13221DD9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BAE1-5D21-E44F-AFA2-DD0178E5E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45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D1E36-9BE3-03D4-2694-F4BEC0424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F4540-8B59-0629-7D22-7A7D54C5B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F5535-AC88-78C2-3557-D004DFAA0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B0B15-32A1-E749-6C65-3E10D1BA2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1FCD0-41F8-3C43-8AC6-625A995C0C1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78EBD-9405-C254-9AC9-B95A298D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B4CC3-2A3C-96A6-3D5D-0FED4948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BAE1-5D21-E44F-AFA2-DD0178E5E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0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E17F-9F9C-7BD5-EF4C-2813E0AB8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C3E61-A11B-A04C-558D-4F9BDE8EC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86F59-5B3F-F0D0-925B-8200E3C51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D00C0-6576-B9A2-0110-3FDEBC09D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43A01C-F090-8E44-177E-17744F10E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372F4B-7A68-3335-4CC7-A8930A6C8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1FCD0-41F8-3C43-8AC6-625A995C0C1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306F3B-85D9-BC46-0177-E484811D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E88158-2C3F-EDEB-B0F9-745A8726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BAE1-5D21-E44F-AFA2-DD0178E5E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00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48AA-964E-B2A1-FB92-DB8DAACE0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E8C50-41F6-FD31-D22F-4E7A6310A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1FCD0-41F8-3C43-8AC6-625A995C0C1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9ADD4-88C6-447A-1445-A8B5566C3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3F39E-1555-CF52-50DF-74E676F3A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BAE1-5D21-E44F-AFA2-DD0178E5E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57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E99DE-BD0C-B458-4DF3-DD406E22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1FCD0-41F8-3C43-8AC6-625A995C0C1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9A761-7A67-972B-5ADD-98B9A4696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9EBDB-E74F-3113-212D-7D9F0983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BAE1-5D21-E44F-AFA2-DD0178E5E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8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002B4-269C-04C8-B002-3140CC76F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F019D-0825-2E94-53E9-657C9A24E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03A70-F376-0C82-BF00-CD4E27119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9557E-6A1D-CDC2-AEDD-41861B045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1FCD0-41F8-3C43-8AC6-625A995C0C1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1D491-7B19-8ACE-A073-DE152C1E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889FD-B6DA-7004-8B2A-D4AF5183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BAE1-5D21-E44F-AFA2-DD0178E5E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7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08786-6350-44C0-D457-E3A548DF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D1307A-5013-D009-6D70-A1B8DF4E4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0EAAA-0713-DECA-5F6D-6A981A762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320A2-E443-899C-CB41-EEDB0188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1FCD0-41F8-3C43-8AC6-625A995C0C1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4EC7D-C084-DD11-B6E7-8FA2113E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E19F1-89D4-B0A8-9E1B-E39B0E2BA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BAE1-5D21-E44F-AFA2-DD0178E5E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00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3D7BE-AED0-6E9D-9066-49D07A59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9DE99-1F1A-F6AA-32F3-8424BBBFE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3E083-672F-6CD1-935F-306AA563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1FCD0-41F8-3C43-8AC6-625A995C0C1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26E3E-3CAB-5E34-F795-CAAB03E0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647C1-4310-5DC6-F7E2-6C69533BF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BAE1-5D21-E44F-AFA2-DD0178E5E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1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082F8B-D10D-A14C-CEF2-56DD5F5034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7DD9F-A4F8-E4CF-1FBE-C46606BCF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3E53C-DB1B-3414-EFD6-CCAF63A5D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1FCD0-41F8-3C43-8AC6-625A995C0C1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2B10F-BF70-5A33-4B74-2B84D9941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A3A77-E8D3-0201-C36B-2FF1FCC71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BAE1-5D21-E44F-AFA2-DD0178E5E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14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CFDE05-DC32-754E-D112-EE16972E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FF8F6-EED5-28A9-8401-B093C19E3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25E26-A870-B8C8-5AF4-8838F32D5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1FCD0-41F8-3C43-8AC6-625A995C0C17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6302D-EB6B-BA79-F250-CC3829DC4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95E8F-EA3E-1598-D589-12EE76EEB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2BAE1-5D21-E44F-AFA2-DD0178E5E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2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CBC-4008-90C0-94FD-DD3D6B3DA9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 d’avancement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A20D2-C802-793A-006F-58CC64DAE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9455"/>
            <a:ext cx="9144000" cy="562189"/>
          </a:xfrm>
        </p:spPr>
        <p:txBody>
          <a:bodyPr/>
          <a:lstStyle/>
          <a:p>
            <a:r>
              <a:rPr lang="en-US" dirty="0"/>
              <a:t>15/01/2026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4E93A1-7D9F-5D20-D13A-8498DD2747E9}"/>
              </a:ext>
            </a:extLst>
          </p:cNvPr>
          <p:cNvCxnSpPr/>
          <p:nvPr/>
        </p:nvCxnSpPr>
        <p:spPr>
          <a:xfrm>
            <a:off x="1112108" y="3509963"/>
            <a:ext cx="1030553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310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C1A4-6298-650E-EAAD-B42DF1738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1" y="377482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/>
              <a:t>Data </a:t>
            </a:r>
            <a:r>
              <a:rPr lang="fr-FR" sz="3200" dirty="0" err="1"/>
              <a:t>preprocessing</a:t>
            </a:r>
            <a:r>
              <a:rPr lang="fr-FR" sz="3200" dirty="0"/>
              <a:t> : DNA </a:t>
            </a:r>
            <a:r>
              <a:rPr lang="fr-FR" sz="3200" dirty="0" err="1"/>
              <a:t>methylation</a:t>
            </a:r>
            <a:endParaRPr lang="fr-FR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47FC14-A70A-C74C-79EA-FF5DA72EF9AC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990762-EDE1-81E4-3571-D31495E2D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B9E41E33-D9D6-65CB-73A6-2298413090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F1FCB3-9969-42F0-5680-985158A48277}"/>
              </a:ext>
            </a:extLst>
          </p:cNvPr>
          <p:cNvSpPr txBox="1"/>
          <p:nvPr/>
        </p:nvSpPr>
        <p:spPr>
          <a:xfrm>
            <a:off x="556054" y="1330411"/>
            <a:ext cx="986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Données brutes (</a:t>
            </a:r>
            <a:r>
              <a:rPr lang="fr-FR" dirty="0" err="1">
                <a:solidFill>
                  <a:schemeClr val="accent6"/>
                </a:solidFill>
              </a:rPr>
              <a:t>BRCA.DNAmethy_filtered.csv</a:t>
            </a:r>
            <a:r>
              <a:rPr lang="fr-FR" dirty="0"/>
              <a:t>) : </a:t>
            </a:r>
            <a:r>
              <a:rPr lang="fr-FR" b="1" dirty="0"/>
              <a:t>486 427 îlots </a:t>
            </a:r>
            <a:r>
              <a:rPr lang="fr-FR" b="1" dirty="0" err="1"/>
              <a:t>CpGs</a:t>
            </a:r>
            <a:r>
              <a:rPr lang="fr-FR" dirty="0"/>
              <a:t> et </a:t>
            </a:r>
            <a:r>
              <a:rPr lang="fr-FR" b="1" dirty="0"/>
              <a:t>786 patients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0718DD-4250-1C22-B7D2-D6AD1A9D2949}"/>
              </a:ext>
            </a:extLst>
          </p:cNvPr>
          <p:cNvSpPr txBox="1"/>
          <p:nvPr/>
        </p:nvSpPr>
        <p:spPr>
          <a:xfrm>
            <a:off x="556053" y="1782807"/>
            <a:ext cx="986971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Étapes de </a:t>
            </a:r>
            <a:r>
              <a:rPr lang="fr-FR" dirty="0" err="1"/>
              <a:t>preprocessing</a:t>
            </a:r>
            <a:r>
              <a:rPr lang="fr-FR" dirty="0"/>
              <a:t>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Filtrer les probes dont le signal est nul </a:t>
            </a:r>
          </a:p>
          <a:p>
            <a:pPr marL="285750" indent="-285750">
              <a:buFontTx/>
              <a:buChar char="-"/>
            </a:pPr>
            <a:r>
              <a:rPr lang="fr-FR" dirty="0"/>
              <a:t>Enlever les </a:t>
            </a:r>
            <a:r>
              <a:rPr lang="fr-FR" dirty="0" err="1"/>
              <a:t>NaNs</a:t>
            </a:r>
            <a:r>
              <a:rPr lang="fr-FR" dirty="0"/>
              <a:t>, ne sélectionner que les îlots pour lesquels au max 1% valeurs manquantes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Pour les </a:t>
            </a:r>
            <a:r>
              <a:rPr lang="fr-FR" dirty="0" err="1"/>
              <a:t>NaNs</a:t>
            </a:r>
            <a:r>
              <a:rPr lang="fr-FR" dirty="0"/>
              <a:t> restants: </a:t>
            </a:r>
          </a:p>
          <a:p>
            <a:pPr marL="1200150" lvl="2" indent="-285750">
              <a:buFontTx/>
              <a:buChar char="-"/>
            </a:pPr>
            <a:r>
              <a:rPr lang="fr-FR" dirty="0"/>
              <a:t>On enlève l’îlot en entier ?</a:t>
            </a:r>
          </a:p>
          <a:p>
            <a:pPr marL="1200150" lvl="2" indent="-285750">
              <a:buFontTx/>
              <a:buChar char="-"/>
            </a:pPr>
            <a:r>
              <a:rPr lang="fr-FR" dirty="0"/>
              <a:t>On remplace par la moyenne ? Médiane ? </a:t>
            </a:r>
            <a:r>
              <a:rPr lang="fr-FR" dirty="0" err="1"/>
              <a:t>Zero</a:t>
            </a:r>
            <a:r>
              <a:rPr lang="fr-FR" dirty="0"/>
              <a:t> (on introduis un biais biologique)</a:t>
            </a:r>
          </a:p>
          <a:p>
            <a:pPr marL="285750" indent="-285750">
              <a:buFontTx/>
              <a:buChar char="-"/>
            </a:pPr>
            <a:r>
              <a:rPr lang="fr-FR" dirty="0"/>
              <a:t>ANOVA F-test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Les hypothèses de distributions normales des résidus peut-être validée ? </a:t>
            </a:r>
          </a:p>
          <a:p>
            <a:pPr marL="1200150" lvl="2" indent="-285750">
              <a:buFontTx/>
              <a:buChar char="-"/>
            </a:pPr>
            <a:r>
              <a:rPr lang="fr-FR" dirty="0"/>
              <a:t>-&gt; Sinon on transforme les </a:t>
            </a:r>
            <a:r>
              <a:rPr lang="fr-FR" dirty="0" err="1"/>
              <a:t>ß</a:t>
            </a:r>
            <a:r>
              <a:rPr lang="fr-FR" dirty="0"/>
              <a:t> values en M-values (log( </a:t>
            </a:r>
            <a:r>
              <a:rPr lang="fr-FR" dirty="0" err="1"/>
              <a:t>ß</a:t>
            </a:r>
            <a:r>
              <a:rPr lang="fr-FR" dirty="0"/>
              <a:t> /(1-ß)))</a:t>
            </a:r>
          </a:p>
          <a:p>
            <a:pPr marL="742950" lvl="1" indent="-285750">
              <a:buFontTx/>
              <a:buChar char="-"/>
            </a:pPr>
            <a:r>
              <a:rPr lang="fr-FR" dirty="0" err="1"/>
              <a:t>Homogeneité</a:t>
            </a:r>
            <a:r>
              <a:rPr lang="fr-FR" dirty="0"/>
              <a:t> de la variance ?</a:t>
            </a:r>
          </a:p>
          <a:p>
            <a:pPr marL="1200150" lvl="2" indent="-285750">
              <a:buFontTx/>
              <a:buChar char="-"/>
            </a:pPr>
            <a:r>
              <a:rPr lang="fr-FR" dirty="0" err="1"/>
              <a:t>Levene’s</a:t>
            </a:r>
            <a:r>
              <a:rPr lang="fr-FR" dirty="0"/>
              <a:t> test / Bartlett Test </a:t>
            </a:r>
          </a:p>
          <a:p>
            <a:pPr marL="1200150" lvl="2" indent="-285750">
              <a:buFontTx/>
              <a:buChar char="-"/>
            </a:pPr>
            <a:r>
              <a:rPr lang="fr-FR" dirty="0"/>
              <a:t>Solution : </a:t>
            </a:r>
            <a:r>
              <a:rPr lang="fr-FR" dirty="0" err="1"/>
              <a:t>Welch’s</a:t>
            </a:r>
            <a:r>
              <a:rPr lang="fr-FR" dirty="0"/>
              <a:t> ANOVA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On filtre par p-value &lt; 0.05 ?</a:t>
            </a:r>
          </a:p>
          <a:p>
            <a:pPr marL="742950" lvl="1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Association îlots </a:t>
            </a:r>
            <a:r>
              <a:rPr lang="fr-FR" dirty="0" err="1"/>
              <a:t>CpGs</a:t>
            </a:r>
            <a:r>
              <a:rPr lang="fr-FR" dirty="0"/>
              <a:t> -&gt; Gènes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Package </a:t>
            </a:r>
            <a:r>
              <a:rPr lang="fr-FR" dirty="0" err="1"/>
              <a:t>CpGtools</a:t>
            </a:r>
            <a:endParaRPr lang="fr-FR" dirty="0"/>
          </a:p>
          <a:p>
            <a:pPr marL="742950" lvl="1" indent="-285750">
              <a:buFontTx/>
              <a:buChar char="-"/>
            </a:pPr>
            <a:r>
              <a:rPr lang="fr-FR" dirty="0"/>
              <a:t>Passage sur R pour faire l’association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Illumina 450k </a:t>
            </a:r>
            <a:r>
              <a:rPr lang="fr-FR" dirty="0" err="1"/>
              <a:t>manifest.csv</a:t>
            </a:r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09D7E-61B4-B173-B95E-9408D84BEA4A}"/>
              </a:ext>
            </a:extLst>
          </p:cNvPr>
          <p:cNvSpPr txBox="1"/>
          <p:nvPr/>
        </p:nvSpPr>
        <p:spPr>
          <a:xfrm>
            <a:off x="9654747" y="5257562"/>
            <a:ext cx="253725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accent1"/>
                </a:solidFill>
              </a:rPr>
              <a:t>Ranjbari</a:t>
            </a:r>
            <a:r>
              <a:rPr lang="en-US" sz="1400" dirty="0">
                <a:solidFill>
                  <a:schemeClr val="accent1"/>
                </a:solidFill>
              </a:rPr>
              <a:t> et al.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Min-Max Scaling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Low – Variance Filter (0.02 threshold)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ANOVA (p&lt;0.05) 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Resulting in 582 features (genes or </a:t>
            </a:r>
            <a:r>
              <a:rPr lang="en-US" sz="1400" dirty="0" err="1">
                <a:solidFill>
                  <a:schemeClr val="accent1"/>
                </a:solidFill>
              </a:rPr>
              <a:t>CpGs</a:t>
            </a:r>
            <a:r>
              <a:rPr lang="en-US" sz="1400" dirty="0">
                <a:solidFill>
                  <a:schemeClr val="accent1"/>
                </a:solidFill>
              </a:rPr>
              <a:t> ?)</a:t>
            </a:r>
          </a:p>
        </p:txBody>
      </p:sp>
    </p:spTree>
    <p:extLst>
      <p:ext uri="{BB962C8B-B14F-4D97-AF65-F5344CB8AC3E}">
        <p14:creationId xmlns:p14="http://schemas.microsoft.com/office/powerpoint/2010/main" val="3223270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C1754-9AA1-271B-ED2C-BAB47381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67E9-0143-EE81-C914-654D91BF6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1" y="377482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/>
              <a:t>Data </a:t>
            </a:r>
            <a:r>
              <a:rPr lang="fr-FR" sz="3200" dirty="0" err="1"/>
              <a:t>preprocessing</a:t>
            </a:r>
            <a:r>
              <a:rPr lang="fr-FR" sz="3200" dirty="0"/>
              <a:t> : Données cliniques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5CDC73-2131-D792-BEE2-22E4F60787AE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C076F2-C7F7-BFB6-4E40-C3B6AC4C8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8447952F-95BC-703F-3729-209BFE31FE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F209D8-7DF7-C63A-86B1-28C6636C59EC}"/>
              </a:ext>
            </a:extLst>
          </p:cNvPr>
          <p:cNvSpPr txBox="1"/>
          <p:nvPr/>
        </p:nvSpPr>
        <p:spPr>
          <a:xfrm>
            <a:off x="754743" y="1291771"/>
            <a:ext cx="605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 ne </a:t>
            </a:r>
            <a:r>
              <a:rPr lang="en-US" dirty="0" err="1"/>
              <a:t>considérant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les classes long vs short 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918BB3-1791-83EA-6DED-E233E5C683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519" y="1291771"/>
            <a:ext cx="4476259" cy="1832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13332D-F4A1-7479-96D9-0AC1EE0107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9146" y="3429000"/>
            <a:ext cx="7605632" cy="290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1B8D3-9A75-92D0-E22B-1FFF05FBC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1621-7D59-DB52-2DBA-2D8444753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1" y="377482"/>
            <a:ext cx="10515600" cy="685199"/>
          </a:xfrm>
        </p:spPr>
        <p:txBody>
          <a:bodyPr>
            <a:normAutofit/>
          </a:bodyPr>
          <a:lstStyle/>
          <a:p>
            <a:r>
              <a:rPr lang="fr-FR" sz="3200" dirty="0"/>
              <a:t>Data </a:t>
            </a:r>
            <a:r>
              <a:rPr lang="fr-FR" sz="3200" dirty="0" err="1"/>
              <a:t>preprocessing</a:t>
            </a:r>
            <a:r>
              <a:rPr lang="fr-FR" sz="3200" dirty="0"/>
              <a:t> : Résultats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F334D8-3105-D164-8D5C-66AC6F1B51EC}"/>
              </a:ext>
            </a:extLst>
          </p:cNvPr>
          <p:cNvCxnSpPr>
            <a:cxnSpLocks/>
          </p:cNvCxnSpPr>
          <p:nvPr/>
        </p:nvCxnSpPr>
        <p:spPr>
          <a:xfrm>
            <a:off x="556054" y="1038612"/>
            <a:ext cx="1110872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4E76DC-2C69-E763-460B-2C2A5D7AA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507" y="481024"/>
            <a:ext cx="875271" cy="45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NRGH - Genopole, Vivre l'innovation">
            <a:extLst>
              <a:ext uri="{FF2B5EF4-FFF2-40B4-BE49-F238E27FC236}">
                <a16:creationId xmlns:a16="http://schemas.microsoft.com/office/drawing/2014/main" id="{76976F7E-994C-4E4E-19A3-2E40A7AB50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9" t="27966" r="13429" b="28128"/>
          <a:stretch>
            <a:fillRect/>
          </a:stretch>
        </p:blipFill>
        <p:spPr bwMode="auto">
          <a:xfrm>
            <a:off x="9353256" y="399004"/>
            <a:ext cx="1309669" cy="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32F69B-AE5D-9D72-43AD-266BFF83A778}"/>
              </a:ext>
            </a:extLst>
          </p:cNvPr>
          <p:cNvSpPr txBox="1"/>
          <p:nvPr/>
        </p:nvSpPr>
        <p:spPr>
          <a:xfrm>
            <a:off x="754743" y="3059668"/>
            <a:ext cx="605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ANOVA F-test + Correction de Benjamini – Hochberg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F0928D-E61A-A1D2-E022-BDB8E6EB29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43" y="1567543"/>
            <a:ext cx="3750832" cy="13570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AE3392-9906-846E-4102-C15F48F5E0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743" y="3594727"/>
            <a:ext cx="3750832" cy="10256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6A5C77-216B-250F-6482-FCF3130C50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5428" y="3564040"/>
            <a:ext cx="5633627" cy="10563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EBD89D-A13D-65D8-1337-4C3ECCBD35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743" y="5251816"/>
            <a:ext cx="6815582" cy="13570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FFB0D4-480E-DA2A-4911-A6E6EF58E712}"/>
              </a:ext>
            </a:extLst>
          </p:cNvPr>
          <p:cNvSpPr txBox="1"/>
          <p:nvPr/>
        </p:nvSpPr>
        <p:spPr>
          <a:xfrm>
            <a:off x="754742" y="4822749"/>
            <a:ext cx="11108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Mapping des </a:t>
            </a:r>
            <a:r>
              <a:rPr lang="en-US" dirty="0" err="1"/>
              <a:t>îlots</a:t>
            </a:r>
            <a:r>
              <a:rPr lang="en-US" dirty="0"/>
              <a:t> </a:t>
            </a:r>
            <a:r>
              <a:rPr lang="en-US" dirty="0" err="1"/>
              <a:t>CpGs</a:t>
            </a:r>
            <a:r>
              <a:rPr lang="en-US" dirty="0"/>
              <a:t> avec les regions de genes avec le manifest Illumina HumanMethylation450 v1.2</a:t>
            </a:r>
          </a:p>
        </p:txBody>
      </p:sp>
    </p:spTree>
    <p:extLst>
      <p:ext uri="{BB962C8B-B14F-4D97-AF65-F5344CB8AC3E}">
        <p14:creationId xmlns:p14="http://schemas.microsoft.com/office/powerpoint/2010/main" val="756069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224</Words>
  <Application>Microsoft Macintosh PowerPoint</Application>
  <PresentationFormat>Widescreen</PresentationFormat>
  <Paragraphs>35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Point d’avancement</vt:lpstr>
      <vt:lpstr>Data preprocessing : DNA methylation</vt:lpstr>
      <vt:lpstr>Data preprocessing : Données cliniques</vt:lpstr>
      <vt:lpstr>Data preprocessing : Résultats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Bastero Anegon (Student at CentraleSupelec)</dc:creator>
  <cp:lastModifiedBy>Alberto Bastero Anegon (Student at CentraleSupelec)</cp:lastModifiedBy>
  <cp:revision>1</cp:revision>
  <dcterms:created xsi:type="dcterms:W3CDTF">2026-01-15T08:55:11Z</dcterms:created>
  <dcterms:modified xsi:type="dcterms:W3CDTF">2026-01-15T18:20:29Z</dcterms:modified>
</cp:coreProperties>
</file>